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1645920"/>
            <a:ext cx="6858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F172A"/>
                </a:solidFill>
              </a:rPr>
              <a:t>Fan Automation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914400" y="2743200"/>
            <a:ext cx="6858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563EB"/>
                </a:solidFill>
              </a:rPr>
              <a:t>Intelligent Industrial &amp; Smart Home Control Systems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914400" y="3840480"/>
            <a:ext cx="6858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</a:rPr>
              <a:t>Codez48 Pilot Acceptance Suite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731520"/>
            <a:ext cx="6858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172A"/>
                </a:solidFill>
              </a:rPr>
              <a:t>Introduction to Fan Automation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731520" y="1645920"/>
            <a:ext cx="6858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334155"/>
                </a:solidFill>
              </a:rPr>
              <a:t>• Automated fan control optimizes energy efficiency and airflow.</a:t>
            </a:r>
            <a:endParaRPr lang="en-US" sz="1500" dirty="0"/>
          </a:p>
          <a:p>
            <a:pPr indent="0" marL="0">
              <a:lnSpc>
                <a:spcPts val="2400"/>
              </a:lnSpc>
              <a:buNone/>
            </a:pPr>
            <a:endParaRPr lang="en-US" sz="15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334155"/>
                </a:solidFill>
              </a:rPr>
              <a:t>• Integrates temperature, humidity, and air quality sensor feedback.</a:t>
            </a:r>
            <a:endParaRPr lang="en-US" sz="1500" dirty="0"/>
          </a:p>
          <a:p>
            <a:pPr indent="0" marL="0">
              <a:lnSpc>
                <a:spcPts val="2400"/>
              </a:lnSpc>
              <a:buNone/>
            </a:pPr>
            <a:endParaRPr lang="en-US" sz="15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334155"/>
                </a:solidFill>
              </a:rPr>
              <a:t>• Reduces operating costs and equipment mechanical wear.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731520"/>
            <a:ext cx="6858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172A"/>
                </a:solidFill>
              </a:rPr>
              <a:t>System Architecture &amp; Key Components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731520" y="1645920"/>
            <a:ext cx="6858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334155"/>
                </a:solidFill>
              </a:rPr>
              <a:t>• Central Controller (Microcontroller / PLC)</a:t>
            </a:r>
            <a:endParaRPr lang="en-US" sz="1500" dirty="0"/>
          </a:p>
          <a:p>
            <a:pPr indent="0" marL="0">
              <a:lnSpc>
                <a:spcPts val="2400"/>
              </a:lnSpc>
              <a:buNone/>
            </a:pPr>
            <a:endParaRPr lang="en-US" sz="15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334155"/>
                </a:solidFill>
              </a:rPr>
              <a:t>• Environmental Sensors (DHT22, BME280, VOC/CO2)</a:t>
            </a:r>
            <a:endParaRPr lang="en-US" sz="1500" dirty="0"/>
          </a:p>
          <a:p>
            <a:pPr indent="0" marL="0">
              <a:lnSpc>
                <a:spcPts val="2400"/>
              </a:lnSpc>
              <a:buNone/>
            </a:pPr>
            <a:endParaRPr lang="en-US" sz="15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334155"/>
                </a:solidFill>
              </a:rPr>
              <a:t>• Actuators: Variable Frequency Drive (VFD) &amp; Pulse Width Modulator (PWM)</a:t>
            </a:r>
            <a:endParaRPr lang="en-US" sz="1500" dirty="0"/>
          </a:p>
          <a:p>
            <a:pPr indent="0" marL="0">
              <a:lnSpc>
                <a:spcPts val="2400"/>
              </a:lnSpc>
              <a:buNone/>
            </a:pPr>
            <a:endParaRPr lang="en-US" sz="15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334155"/>
                </a:solidFill>
              </a:rPr>
              <a:t>• Power Supply &amp; Solid State Relay (SSR)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731520"/>
            <a:ext cx="6858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172A"/>
                </a:solidFill>
              </a:rPr>
              <a:t>Operating Principles &amp; PWM Speed Control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731520" y="1645920"/>
            <a:ext cx="6858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334155"/>
                </a:solidFill>
              </a:rPr>
              <a:t>• Duty cycle modulation adjusts fan RPM dynamically.</a:t>
            </a:r>
            <a:endParaRPr lang="en-US" sz="1500" dirty="0"/>
          </a:p>
          <a:p>
            <a:pPr indent="0" marL="0">
              <a:lnSpc>
                <a:spcPts val="2400"/>
              </a:lnSpc>
              <a:buNone/>
            </a:pPr>
            <a:endParaRPr lang="en-US" sz="15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334155"/>
                </a:solidFill>
              </a:rPr>
              <a:t>• Microcontroller computes thermal delta relative to target setpoint.</a:t>
            </a:r>
            <a:endParaRPr lang="en-US" sz="1500" dirty="0"/>
          </a:p>
          <a:p>
            <a:pPr indent="0" marL="0">
              <a:lnSpc>
                <a:spcPts val="2400"/>
              </a:lnSpc>
              <a:buNone/>
            </a:pPr>
            <a:endParaRPr lang="en-US" sz="15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334155"/>
                </a:solidFill>
              </a:rPr>
              <a:t>• Continuous proportional control suppresses acoustic motor noise.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731520"/>
            <a:ext cx="6858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172A"/>
                </a:solidFill>
              </a:rPr>
              <a:t>Environmental Thresholds &amp; Triggers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731520" y="1645920"/>
            <a:ext cx="6858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334155"/>
                </a:solidFill>
              </a:rPr>
              <a:t>• Low Temp (&lt; 22°C): Fan Standby / Off</a:t>
            </a:r>
            <a:endParaRPr lang="en-US" sz="1500" dirty="0"/>
          </a:p>
          <a:p>
            <a:pPr indent="0" marL="0">
              <a:lnSpc>
                <a:spcPts val="2400"/>
              </a:lnSpc>
              <a:buNone/>
            </a:pPr>
            <a:endParaRPr lang="en-US" sz="15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334155"/>
                </a:solidFill>
              </a:rPr>
              <a:t>• Nominal Temp (22°C - 30°C): 30% - 70% Speed Linear Ramp</a:t>
            </a:r>
            <a:endParaRPr lang="en-US" sz="1500" dirty="0"/>
          </a:p>
          <a:p>
            <a:pPr indent="0" marL="0">
              <a:lnSpc>
                <a:spcPts val="2400"/>
              </a:lnSpc>
              <a:buNone/>
            </a:pPr>
            <a:endParaRPr lang="en-US" sz="15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334155"/>
                </a:solidFill>
              </a:rPr>
              <a:t>• High Temp (&gt; 30°C): 100% Maximum Airflow Boost</a:t>
            </a:r>
            <a:endParaRPr lang="en-US" sz="1500" dirty="0"/>
          </a:p>
          <a:p>
            <a:pPr indent="0" marL="0">
              <a:lnSpc>
                <a:spcPts val="2400"/>
              </a:lnSpc>
              <a:buNone/>
            </a:pPr>
            <a:endParaRPr lang="en-US" sz="15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334155"/>
                </a:solidFill>
              </a:rPr>
              <a:t>• CO2 Threshold (&gt; 1000 ppm): Emergency Ventilation Override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731520"/>
            <a:ext cx="6858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172A"/>
                </a:solidFill>
              </a:rPr>
              <a:t>Automation Workflow &amp; Closed-Loop Control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731520" y="1645920"/>
            <a:ext cx="6858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334155"/>
                </a:solidFill>
              </a:rPr>
              <a:t>1. Sensor Telemetry Acquisition -&gt; 2. Delta Signal Processing</a:t>
            </a:r>
            <a:endParaRPr lang="en-US" sz="1500" dirty="0"/>
          </a:p>
          <a:p>
            <a:pPr indent="0" marL="0">
              <a:lnSpc>
                <a:spcPts val="2400"/>
              </a:lnSpc>
              <a:buNone/>
            </a:pPr>
            <a:endParaRPr lang="en-US" sz="15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334155"/>
                </a:solidFill>
              </a:rPr>
              <a:t>3. PID Loop Calculation -&gt; 4. PWM Duty Cycle Output Signal</a:t>
            </a:r>
            <a:endParaRPr lang="en-US" sz="1500" dirty="0"/>
          </a:p>
          <a:p>
            <a:pPr indent="0" marL="0">
              <a:lnSpc>
                <a:spcPts val="2400"/>
              </a:lnSpc>
              <a:buNone/>
            </a:pPr>
            <a:endParaRPr lang="en-US" sz="15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334155"/>
                </a:solidFill>
              </a:rPr>
              <a:t>5. Fan Tachometer Feedback Inspection &amp; Closed-Loop Adjustment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731520"/>
            <a:ext cx="6858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172A"/>
                </a:solidFill>
              </a:rPr>
              <a:t>Industrial &amp; Commercial Applications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731520" y="1645920"/>
            <a:ext cx="6858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334155"/>
                </a:solidFill>
              </a:rPr>
              <a:t>• Data Center Server Rack Thermal Management</a:t>
            </a:r>
            <a:endParaRPr lang="en-US" sz="1500" dirty="0"/>
          </a:p>
          <a:p>
            <a:pPr indent="0" marL="0">
              <a:lnSpc>
                <a:spcPts val="2400"/>
              </a:lnSpc>
              <a:buNone/>
            </a:pPr>
            <a:endParaRPr lang="en-US" sz="15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334155"/>
                </a:solidFill>
              </a:rPr>
              <a:t>• Commercial HVAC VAV Building Ventilation</a:t>
            </a:r>
            <a:endParaRPr lang="en-US" sz="1500" dirty="0"/>
          </a:p>
          <a:p>
            <a:pPr indent="0" marL="0">
              <a:lnSpc>
                <a:spcPts val="2400"/>
              </a:lnSpc>
              <a:buNone/>
            </a:pPr>
            <a:endParaRPr lang="en-US" sz="15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334155"/>
                </a:solidFill>
              </a:rPr>
              <a:t>• Automotive Engine Cooling &amp; Battery Thermal Conditioning</a:t>
            </a:r>
            <a:endParaRPr lang="en-US" sz="1500" dirty="0"/>
          </a:p>
          <a:p>
            <a:pPr indent="0" marL="0">
              <a:lnSpc>
                <a:spcPts val="2400"/>
              </a:lnSpc>
              <a:buNone/>
            </a:pPr>
            <a:endParaRPr lang="en-US" sz="15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334155"/>
                </a:solidFill>
              </a:rPr>
              <a:t>• Residential Smart Home Climate Automation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731520"/>
            <a:ext cx="6858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172A"/>
                </a:solidFill>
              </a:rPr>
              <a:t>Key Energy &amp; Performance Benefits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731520" y="1645920"/>
            <a:ext cx="6858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334155"/>
                </a:solidFill>
              </a:rPr>
              <a:t>• Up to 40% reduction in HVAC electrical power consumption.</a:t>
            </a:r>
            <a:endParaRPr lang="en-US" sz="1500" dirty="0"/>
          </a:p>
          <a:p>
            <a:pPr indent="0" marL="0">
              <a:lnSpc>
                <a:spcPts val="2400"/>
              </a:lnSpc>
              <a:buNone/>
            </a:pPr>
            <a:endParaRPr lang="en-US" sz="15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334155"/>
                </a:solidFill>
              </a:rPr>
              <a:t>• Prolonged motor bearing lifecycle due to soft-starting.</a:t>
            </a:r>
            <a:endParaRPr lang="en-US" sz="1500" dirty="0"/>
          </a:p>
          <a:p>
            <a:pPr indent="0" marL="0">
              <a:lnSpc>
                <a:spcPts val="2400"/>
              </a:lnSpc>
              <a:buNone/>
            </a:pPr>
            <a:endParaRPr lang="en-US" sz="15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334155"/>
                </a:solidFill>
              </a:rPr>
              <a:t>• Acoustic noise reduction during off-peak thermal periods.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731520"/>
            <a:ext cx="6858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172A"/>
                </a:solidFill>
              </a:rPr>
              <a:t>Safety Mechanisms &amp; Fault Detection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731520" y="1645920"/>
            <a:ext cx="6858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334155"/>
                </a:solidFill>
              </a:rPr>
              <a:t>• Thermal Overload Cutoff Fuse</a:t>
            </a:r>
            <a:endParaRPr lang="en-US" sz="1500" dirty="0"/>
          </a:p>
          <a:p>
            <a:pPr indent="0" marL="0">
              <a:lnSpc>
                <a:spcPts val="2400"/>
              </a:lnSpc>
              <a:buNone/>
            </a:pPr>
            <a:endParaRPr lang="en-US" sz="15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334155"/>
                </a:solidFill>
              </a:rPr>
              <a:t>• Rotor Lock &amp; Stall Detection Feedback</a:t>
            </a:r>
            <a:endParaRPr lang="en-US" sz="1500" dirty="0"/>
          </a:p>
          <a:p>
            <a:pPr indent="0" marL="0">
              <a:lnSpc>
                <a:spcPts val="2400"/>
              </a:lnSpc>
              <a:buNone/>
            </a:pPr>
            <a:endParaRPr lang="en-US" sz="15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334155"/>
                </a:solidFill>
              </a:rPr>
              <a:t>• Reverse Polarity &amp; Surge Suppressor Circuitry</a:t>
            </a:r>
            <a:endParaRPr lang="en-US" sz="1500" dirty="0"/>
          </a:p>
          <a:p>
            <a:pPr indent="0" marL="0">
              <a:lnSpc>
                <a:spcPts val="2400"/>
              </a:lnSpc>
              <a:buNone/>
            </a:pPr>
            <a:endParaRPr lang="en-US" sz="15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334155"/>
                </a:solidFill>
              </a:rPr>
              <a:t>• Fail-Safe Default: 100% Speed on Sensor Loss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731520"/>
            <a:ext cx="6858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172A"/>
                </a:solidFill>
              </a:rPr>
              <a:t>Conclusion &amp; Future Outlook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731520" y="1645920"/>
            <a:ext cx="6858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334155"/>
                </a:solidFill>
              </a:rPr>
              <a:t>• Fan automation provides energy efficiency, safety, and acoustic comfort.</a:t>
            </a:r>
            <a:endParaRPr lang="en-US" sz="1500" dirty="0"/>
          </a:p>
          <a:p>
            <a:pPr indent="0" marL="0">
              <a:lnSpc>
                <a:spcPts val="2400"/>
              </a:lnSpc>
              <a:buNone/>
            </a:pPr>
            <a:endParaRPr lang="en-US" sz="15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334155"/>
                </a:solidFill>
              </a:rPr>
              <a:t>• Future integration with IoT edge AI models enables predictive maintenance.</a:t>
            </a:r>
            <a:endParaRPr lang="en-US" sz="1500" dirty="0"/>
          </a:p>
          <a:p>
            <a:pPr indent="0" marL="0">
              <a:lnSpc>
                <a:spcPts val="2400"/>
              </a:lnSpc>
              <a:buNone/>
            </a:pPr>
            <a:endParaRPr lang="en-US" sz="15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334155"/>
                </a:solidFill>
              </a:rPr>
              <a:t>• Essential technology for modern sustainable building infrastructure.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2026-10-11T12:00:05Z</dcterms:created>
  <dcterms:modified xsi:type="dcterms:W3CDTF">2026-10-11T12:00:05Z</dcterms:modified>
</cp:coreProperties>
</file>